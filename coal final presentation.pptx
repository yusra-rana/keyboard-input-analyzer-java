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65" r:id="rId4"/>
    <p:sldId id="264" r:id="rId5"/>
    <p:sldId id="270" r:id="rId6"/>
    <p:sldId id="288" r:id="rId7"/>
    <p:sldId id="287" r:id="rId8"/>
    <p:sldId id="284" r:id="rId9"/>
    <p:sldId id="266" r:id="rId10"/>
    <p:sldId id="271" r:id="rId11"/>
    <p:sldId id="26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53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8BF84-A35A-45E8-9E20-4532E26FBB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4D865-4D01-4FB4-B0E2-04B9A75A2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045"/>
            <a:ext cx="10515600" cy="1325563"/>
          </a:xfrm>
        </p:spPr>
        <p:txBody>
          <a:bodyPr/>
          <a:lstStyle>
            <a:lvl1pPr algn="ctr">
              <a:defRPr b="1">
                <a:solidFill>
                  <a:srgbClr val="002F7F"/>
                </a:solidFill>
              </a:defRPr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539240" y="1097280"/>
            <a:ext cx="9113520" cy="0"/>
          </a:xfrm>
          <a:prstGeom prst="line">
            <a:avLst/>
          </a:prstGeom>
          <a:ln>
            <a:solidFill>
              <a:srgbClr val="002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11BBB-1695-42D8-9491-D28DC7CFDE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6532C-EE3F-40F0-86BE-983BA5E621D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64050" y="3841750"/>
            <a:ext cx="5769610" cy="1002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en-US" sz="4800" b="1" dirty="0" smtClean="0">
                <a:solidFill>
                  <a:schemeClr val="tx1"/>
                </a:solidFill>
                <a:latin typeface="Agency FB" panose="020B0503020202020204" charset="0"/>
                <a:cs typeface="Agency FB" panose="020B0503020202020204" charset="0"/>
              </a:rPr>
              <a:t> Keyboard Input Analyzer  </a:t>
            </a:r>
            <a:endParaRPr lang="en-US" altLang="en-US" sz="4800" b="1" dirty="0" smtClean="0">
              <a:solidFill>
                <a:schemeClr val="tx1"/>
              </a:solidFill>
              <a:latin typeface="Agency FB" panose="020B0503020202020204" charset="0"/>
              <a:cs typeface="Agency FB" panose="020B0503020202020204" charset="0"/>
            </a:endParaRPr>
          </a:p>
          <a:p>
            <a:pPr algn="ctr"/>
            <a:endParaRPr lang="en-US" altLang="en-US" sz="4800" b="1" dirty="0" smtClean="0">
              <a:solidFill>
                <a:schemeClr val="tx1"/>
              </a:solidFill>
              <a:latin typeface="Agency FB" panose="020B0503020202020204" charset="0"/>
              <a:cs typeface="Agency FB" panose="020B05030202020202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70330" y="1131570"/>
            <a:ext cx="5073015" cy="16630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​Submitted By:  Yusra Rana (079)  </a:t>
            </a:r>
            <a:endParaRPr lang="en-US" altLang="en-US" sz="2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​Afreen Zafar (071)  </a:t>
            </a:r>
            <a:endParaRPr lang="en-US" altLang="en-US" sz="2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​Minal Sajjad (077)  </a:t>
            </a:r>
            <a:endParaRPr lang="en-US" altLang="en-US" sz="2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​Submitted To: Sir Majid Shafique  </a:t>
            </a:r>
            <a:endParaRPr lang="en-US" altLang="en-US" sz="2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 flipH="1" flipV="1">
            <a:off x="3596640" y="0"/>
            <a:ext cx="8595360" cy="6858000"/>
          </a:xfrm>
          <a:custGeom>
            <a:avLst/>
            <a:gdLst>
              <a:gd name="connsiteX0" fmla="*/ 0 w 7362092"/>
              <a:gd name="connsiteY0" fmla="*/ 0 h 6858000"/>
              <a:gd name="connsiteX1" fmla="*/ 3932652 w 7362092"/>
              <a:gd name="connsiteY1" fmla="*/ 0 h 6858000"/>
              <a:gd name="connsiteX2" fmla="*/ 7362092 w 7362092"/>
              <a:gd name="connsiteY2" fmla="*/ 6858000 h 6858000"/>
              <a:gd name="connsiteX3" fmla="*/ 0 w 73620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2092" h="6858000">
                <a:moveTo>
                  <a:pt x="0" y="0"/>
                </a:moveTo>
                <a:lnTo>
                  <a:pt x="3932652" y="0"/>
                </a:lnTo>
                <a:lnTo>
                  <a:pt x="73620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22170" y="319405"/>
            <a:ext cx="6794500" cy="176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 smtClean="0">
                <a:solidFill>
                  <a:schemeClr val="bg1"/>
                </a:solidFill>
              </a:rPr>
              <a:t>Project Overview &amp; Abstract</a:t>
            </a:r>
            <a:endParaRPr lang="en-US" altLang="en-US" sz="4400" b="1" dirty="0" smtClean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5170" y="1903095"/>
            <a:ext cx="11120120" cy="4697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​Definition:</a:t>
            </a:r>
            <a:endParaRPr lang="en-US" altLang="en-US" sz="36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A Java-based application designed to process and analyze text entered via a keyboard.  </a:t>
            </a:r>
            <a:endParaRPr lang="en-US" altLang="en-US" sz="32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​Core Function: </a:t>
            </a:r>
            <a:endParaRPr lang="en-US" altLang="en-US" sz="36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It categorizes strings into specific components like vowels, digits, and special characters.  </a:t>
            </a:r>
            <a:endParaRPr lang="en-US" altLang="en-US" sz="32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​Purpose: </a:t>
            </a:r>
            <a:endParaRPr lang="en-US" altLang="en-US" sz="36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To strengthen core programming concepts such as string handling, loops, and conditional logic.  </a:t>
            </a:r>
            <a:endParaRPr lang="en-US" altLang="en-US" sz="32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9060" y="1765935"/>
            <a:ext cx="5975350" cy="4855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​Importance of Text Analysis: 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Vital for software editors, data validation, and input processing tools. ​</a:t>
            </a:r>
            <a:endParaRPr lang="en-US" altLang="en-US" sz="2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Project Goal: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To programmatically capture user input and evaluate it character by character.  </a:t>
            </a:r>
            <a:endParaRPr lang="en-US" altLang="en-US" sz="2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​Technical Focus: 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Demonstrates efficient use of Java’s built-in classes for string manipulation.  </a:t>
            </a:r>
            <a:endParaRPr lang="en-US" altLang="en-US" sz="2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2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32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32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69174" y="5371522"/>
            <a:ext cx="40717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3200" dirty="0">
              <a:solidFill>
                <a:srgbClr val="002F7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 rot="2702889">
            <a:off x="6368508" y="4056609"/>
            <a:ext cx="489589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8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 sz="48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48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9435"/>
            <a:ext cx="9490075" cy="46291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​Key Objectives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580515" y="1686560"/>
            <a:ext cx="8540750" cy="49961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3600" b="1" dirty="0">
                <a:latin typeface="Times New Roman" panose="02020603050405020304" charset="0"/>
                <a:cs typeface="Times New Roman" panose="02020603050405020304" charset="0"/>
              </a:rPr>
              <a:t>Input Capture:</a:t>
            </a:r>
            <a:endParaRPr lang="en-US" altLang="en-US" sz="3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 Accurately accept text input through the keyboard.  </a:t>
            </a:r>
            <a:endParaRPr lang="en-US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charset="0"/>
                <a:cs typeface="Times New Roman" panose="02020603050405020304" charset="0"/>
              </a:rPr>
              <a:t>​Accurate Counting:</a:t>
            </a:r>
            <a:endParaRPr lang="en-US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3200" b="1" dirty="0">
                <a:latin typeface="Times New Roman" panose="02020603050405020304" charset="0"/>
                <a:cs typeface="Times New Roman" panose="02020603050405020304" charset="0"/>
              </a:rPr>
              <a:t> Specifically count:</a:t>
            </a:r>
            <a:endParaRPr lang="en-US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2000" b="1" dirty="0">
                <a:latin typeface="+mj-lt"/>
              </a:rPr>
              <a:t>​Total Characters and Words.  </a:t>
            </a:r>
            <a:endParaRPr lang="en-US" altLang="en-US" sz="2000" b="1" dirty="0">
              <a:latin typeface="+mj-lt"/>
            </a:endParaRPr>
          </a:p>
          <a:p>
            <a:pPr algn="l"/>
            <a:r>
              <a:rPr lang="en-US" altLang="en-US" sz="2000" b="1" dirty="0">
                <a:latin typeface="+mj-lt"/>
              </a:rPr>
              <a:t>​Vowels and Consonants.  </a:t>
            </a:r>
            <a:endParaRPr lang="en-US" altLang="en-US" sz="2000" b="1" dirty="0">
              <a:latin typeface="+mj-lt"/>
            </a:endParaRPr>
          </a:p>
          <a:p>
            <a:pPr algn="l"/>
            <a:r>
              <a:rPr lang="en-US" altLang="en-US" sz="2000" b="1" dirty="0">
                <a:latin typeface="+mj-lt"/>
              </a:rPr>
              <a:t>​Digits, Spaces, and Special Characters.  </a:t>
            </a:r>
            <a:endParaRPr lang="en-US" altLang="en-US" sz="2000" b="1" dirty="0">
              <a:latin typeface="+mj-lt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+mj-lt"/>
              </a:rPr>
              <a:t>​Skill Development: </a:t>
            </a:r>
            <a:endParaRPr lang="en-US" altLang="en-US" sz="3200" b="1" dirty="0">
              <a:latin typeface="+mj-lt"/>
            </a:endParaRPr>
          </a:p>
          <a:p>
            <a:pPr algn="l"/>
            <a:r>
              <a:rPr lang="en-US" altLang="en-US" b="1" dirty="0">
                <a:latin typeface="+mj-lt"/>
              </a:rPr>
              <a:t>Improve logical problem-solving and understanding of Java processing.  </a:t>
            </a:r>
            <a:endParaRPr lang="en-US" altLang="en-US" b="1" dirty="0">
              <a:latin typeface="+mj-lt"/>
            </a:endParaRPr>
          </a:p>
          <a:p>
            <a:pPr algn="ctr"/>
            <a:endParaRPr lang="en-US" altLang="en-US" b="1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System Design &amp; Tools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570865" y="1746250"/>
            <a:ext cx="9799320" cy="47002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en-US" sz="3200" b="1" dirty="0">
                <a:latin typeface="+mj-lt"/>
              </a:rPr>
              <a:t>​Technologies Used:</a:t>
            </a:r>
            <a:endParaRPr lang="en-US" altLang="en-US" sz="3200" b="1" dirty="0">
              <a:latin typeface="+mj-lt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j-lt"/>
              </a:rPr>
              <a:t>​Language: Java (JDK 17).  </a:t>
            </a:r>
            <a:endParaRPr lang="en-US" altLang="en-US" sz="2000" b="1" dirty="0">
              <a:latin typeface="+mj-lt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j-lt"/>
              </a:rPr>
              <a:t>​IDE: Visual Studio Code.  </a:t>
            </a:r>
            <a:endParaRPr lang="en-US" altLang="en-US" sz="2000" b="1" dirty="0">
              <a:latin typeface="+mj-lt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j-lt"/>
              </a:rPr>
              <a:t>​Input Handling: Scanner Class.  </a:t>
            </a:r>
            <a:endParaRPr lang="en-US" altLang="en-US" sz="2000" b="1" dirty="0">
              <a:latin typeface="+mj-lt"/>
            </a:endParaRPr>
          </a:p>
          <a:p>
            <a:pPr algn="ctr"/>
            <a:r>
              <a:rPr lang="en-US" altLang="en-US" sz="3200" b="1" dirty="0">
                <a:latin typeface="+mj-lt"/>
              </a:rPr>
              <a:t>​Processing Logic:</a:t>
            </a:r>
            <a:endParaRPr lang="en-US" altLang="en-US" sz="3200" b="1" dirty="0">
              <a:latin typeface="+mj-lt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j-lt"/>
              </a:rPr>
              <a:t>​Uses length() for total characters.  </a:t>
            </a:r>
            <a:endParaRPr lang="en-US" altLang="en-US" sz="2000" b="1" dirty="0">
              <a:latin typeface="+mj-lt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j-lt"/>
              </a:rPr>
              <a:t>​Uses split() with whitespace to count words.  </a:t>
            </a:r>
            <a:endParaRPr lang="en-US" altLang="en-US" sz="2000" b="1" dirty="0">
              <a:latin typeface="+mj-lt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j-lt"/>
              </a:rPr>
              <a:t>​Uses Character class methods (e.g., isLetter, isDigit) for classification.  </a:t>
            </a:r>
            <a:endParaRPr lang="en-US" altLang="en-US" sz="2000" b="1" dirty="0">
              <a:latin typeface="+mj-lt"/>
            </a:endParaRPr>
          </a:p>
          <a:p>
            <a:pPr algn="ctr"/>
            <a:endParaRPr lang="en-US" altLang="en-US" sz="2000" b="1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 flipH="1" flipV="1">
            <a:off x="3596640" y="0"/>
            <a:ext cx="8595360" cy="6858000"/>
          </a:xfrm>
          <a:custGeom>
            <a:avLst/>
            <a:gdLst>
              <a:gd name="connsiteX0" fmla="*/ 0 w 7362092"/>
              <a:gd name="connsiteY0" fmla="*/ 0 h 6858000"/>
              <a:gd name="connsiteX1" fmla="*/ 3932652 w 7362092"/>
              <a:gd name="connsiteY1" fmla="*/ 0 h 6858000"/>
              <a:gd name="connsiteX2" fmla="*/ 7362092 w 7362092"/>
              <a:gd name="connsiteY2" fmla="*/ 6858000 h 6858000"/>
              <a:gd name="connsiteX3" fmla="*/ 0 w 73620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2092" h="6858000">
                <a:moveTo>
                  <a:pt x="0" y="0"/>
                </a:moveTo>
                <a:lnTo>
                  <a:pt x="3932652" y="0"/>
                </a:lnTo>
                <a:lnTo>
                  <a:pt x="73620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493135" y="479425"/>
            <a:ext cx="5299075" cy="1575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4400" b="1" dirty="0" smtClean="0">
                <a:solidFill>
                  <a:schemeClr val="bg1"/>
                </a:solidFill>
              </a:rPr>
              <a:t>Program Features</a:t>
            </a:r>
            <a:endParaRPr lang="en-US" altLang="en-US" sz="4400" b="1" dirty="0" smtClean="0">
              <a:solidFill>
                <a:schemeClr val="bg1"/>
              </a:solidFill>
            </a:endParaRPr>
          </a:p>
          <a:p>
            <a:endParaRPr lang="en-US" altLang="en-US" sz="4400" b="1" dirty="0" smtClean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5790" y="2054860"/>
            <a:ext cx="10845800" cy="3959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​Efficiency: </a:t>
            </a:r>
            <a:endParaRPr lang="en-US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US" sz="2400" b="1" dirty="0">
                <a:solidFill>
                  <a:schemeClr val="bg1"/>
                </a:solidFill>
              </a:rPr>
              <a:t>Uses built-in Java functions for optimized performance.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r>
              <a:rPr lang="en-US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​Accuracy: </a:t>
            </a:r>
            <a:endParaRPr lang="en-US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US" sz="2400" b="1" dirty="0">
                <a:solidFill>
                  <a:schemeClr val="bg1"/>
                </a:solidFill>
              </a:rPr>
              <a:t>Provides precise counts for different character types.  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r>
              <a:rPr lang="en-US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​User-Friendly:</a:t>
            </a:r>
            <a:endParaRPr lang="en-US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US" sz="2400" b="1" dirty="0">
                <a:solidFill>
                  <a:schemeClr val="bg1"/>
                </a:solidFill>
              </a:rPr>
              <a:t> Simple console-based interface with well-structured output.  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r>
              <a:rPr lang="en-US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​Beginner Oriented:</a:t>
            </a:r>
            <a:endParaRPr lang="en-US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US" sz="2400" b="1" dirty="0">
                <a:solidFill>
                  <a:schemeClr val="bg1"/>
                </a:solidFill>
              </a:rPr>
              <a:t> Logic is easy to understand and modify for learning purposes.  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  </a:t>
            </a:r>
            <a:endParaRPr lang="en-US" altLang="en-US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343933" y="1626211"/>
            <a:ext cx="2605887" cy="4150470"/>
          </a:xfrm>
          <a:prstGeom prst="roundRect">
            <a:avLst/>
          </a:prstGeom>
          <a:solidFill>
            <a:schemeClr val="accent1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Rectangle 32"/>
          <p:cNvSpPr/>
          <p:nvPr/>
        </p:nvSpPr>
        <p:spPr>
          <a:xfrm>
            <a:off x="1343676" y="2532197"/>
            <a:ext cx="2606400" cy="241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Sample Output Example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668352" y="1846589"/>
            <a:ext cx="195704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600" b="1" dirty="0" smtClean="0">
                <a:solidFill>
                  <a:schemeClr val="bg1"/>
                </a:solidFill>
                <a:latin typeface="+mj-lt"/>
              </a:rPr>
              <a:t>​Input Example: "Yusra 2026"  </a:t>
            </a:r>
            <a:endParaRPr lang="en-US" altLang="en-US" sz="1600" b="1" dirty="0" smtClean="0">
              <a:solidFill>
                <a:schemeClr val="bg1"/>
              </a:solidFill>
              <a:latin typeface="+mj-lt"/>
            </a:endParaRPr>
          </a:p>
          <a:p>
            <a:pPr algn="ctr"/>
            <a:endParaRPr lang="en-US" altLang="en-US" sz="1600" b="1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45253" y="2704158"/>
            <a:ext cx="26032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400" dirty="0" smtClean="0">
                <a:solidFill>
                  <a:schemeClr val="tx2"/>
                </a:solidFill>
              </a:rPr>
              <a:t>​Characters: 10  </a:t>
            </a:r>
            <a:endParaRPr lang="en-US" altLang="en-US" sz="1400" dirty="0" smtClean="0">
              <a:solidFill>
                <a:schemeClr val="tx2"/>
              </a:solidFill>
            </a:endParaRPr>
          </a:p>
          <a:p>
            <a:pPr algn="ctr"/>
            <a:endParaRPr lang="en-US" altLang="en-US" sz="1400" dirty="0" smtClean="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45253" y="3128910"/>
            <a:ext cx="26032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400" dirty="0">
                <a:solidFill>
                  <a:schemeClr val="tx2"/>
                </a:solidFill>
              </a:rPr>
              <a:t>​Words: 2  </a:t>
            </a:r>
            <a:endParaRPr lang="en-US" altLang="en-US" sz="1400" dirty="0">
              <a:solidFill>
                <a:schemeClr val="tx2"/>
              </a:solidFill>
            </a:endParaRPr>
          </a:p>
          <a:p>
            <a:pPr algn="ctr"/>
            <a:endParaRPr lang="en-US" altLang="en-US" sz="1400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5253" y="3562826"/>
            <a:ext cx="26032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400" dirty="0">
                <a:solidFill>
                  <a:schemeClr val="tx2"/>
                </a:solidFill>
              </a:rPr>
              <a:t>​Digits: 4  </a:t>
            </a:r>
            <a:endParaRPr lang="en-US" altLang="en-US" sz="1400" dirty="0">
              <a:solidFill>
                <a:schemeClr val="tx2"/>
              </a:solidFill>
            </a:endParaRPr>
          </a:p>
          <a:p>
            <a:pPr algn="ctr"/>
            <a:endParaRPr lang="en-US" altLang="en-US" sz="14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45253" y="3993511"/>
            <a:ext cx="26032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400" dirty="0">
                <a:solidFill>
                  <a:schemeClr val="tx2"/>
                </a:solidFill>
              </a:rPr>
              <a:t>​Vowels: 2  </a:t>
            </a:r>
            <a:endParaRPr lang="en-US" altLang="en-US" sz="1400" dirty="0">
              <a:solidFill>
                <a:schemeClr val="tx2"/>
              </a:solidFill>
            </a:endParaRPr>
          </a:p>
          <a:p>
            <a:pPr algn="ctr"/>
            <a:endParaRPr lang="en-US" altLang="en-US" sz="1400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45253" y="4410298"/>
            <a:ext cx="260324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400" dirty="0">
                <a:solidFill>
                  <a:schemeClr val="tx2"/>
                </a:solidFill>
              </a:rPr>
              <a:t>​Spaces: 1  </a:t>
            </a:r>
            <a:endParaRPr lang="en-US" altLang="en-US" sz="1400" dirty="0">
              <a:solidFill>
                <a:schemeClr val="tx2"/>
              </a:solidFill>
            </a:endParaRPr>
          </a:p>
          <a:p>
            <a:pPr algn="ctr"/>
            <a:endParaRPr lang="en-US" altLang="en-US" sz="1400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68352" y="4912455"/>
            <a:ext cx="195704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b="1" dirty="0">
                <a:solidFill>
                  <a:schemeClr val="bg1"/>
                </a:solidFill>
                <a:latin typeface="+mj-lt"/>
              </a:rPr>
              <a:t>​Result Summary</a:t>
            </a:r>
            <a:endParaRPr lang="en-US" altLang="en-US" sz="2400" b="1" dirty="0">
              <a:solidFill>
                <a:schemeClr val="bg1"/>
              </a:solidFill>
              <a:latin typeface="+mj-lt"/>
            </a:endParaRPr>
          </a:p>
          <a:p>
            <a:pPr algn="ctr"/>
            <a:endParaRPr lang="en-US" altLang="en-US" sz="24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51" name="Group 150"/>
          <p:cNvGrpSpPr/>
          <p:nvPr/>
        </p:nvGrpSpPr>
        <p:grpSpPr>
          <a:xfrm>
            <a:off x="6110814" y="2050305"/>
            <a:ext cx="373649" cy="1643097"/>
            <a:chOff x="1769954" y="1923305"/>
            <a:chExt cx="373649" cy="1643097"/>
          </a:xfrm>
        </p:grpSpPr>
        <p:sp>
          <p:nvSpPr>
            <p:cNvPr id="152" name="Rectangle 3"/>
            <p:cNvSpPr/>
            <p:nvPr/>
          </p:nvSpPr>
          <p:spPr>
            <a:xfrm>
              <a:off x="1769954" y="1923305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 4"/>
            <p:cNvSpPr/>
            <p:nvPr/>
          </p:nvSpPr>
          <p:spPr>
            <a:xfrm>
              <a:off x="1769954" y="2093453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ectangle 5"/>
            <p:cNvSpPr/>
            <p:nvPr/>
          </p:nvSpPr>
          <p:spPr>
            <a:xfrm>
              <a:off x="1769954" y="2263600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6"/>
            <p:cNvSpPr/>
            <p:nvPr/>
          </p:nvSpPr>
          <p:spPr>
            <a:xfrm>
              <a:off x="1769954" y="2433748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Rectangle 7"/>
            <p:cNvSpPr/>
            <p:nvPr/>
          </p:nvSpPr>
          <p:spPr>
            <a:xfrm>
              <a:off x="1769954" y="2603896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ectangle 8"/>
            <p:cNvSpPr/>
            <p:nvPr/>
          </p:nvSpPr>
          <p:spPr>
            <a:xfrm>
              <a:off x="1769954" y="2774044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ectangle 9"/>
            <p:cNvSpPr/>
            <p:nvPr/>
          </p:nvSpPr>
          <p:spPr>
            <a:xfrm>
              <a:off x="1769954" y="2944191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0"/>
            <p:cNvSpPr/>
            <p:nvPr/>
          </p:nvSpPr>
          <p:spPr>
            <a:xfrm>
              <a:off x="1769954" y="3114339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Rectangle 11"/>
            <p:cNvSpPr/>
            <p:nvPr/>
          </p:nvSpPr>
          <p:spPr>
            <a:xfrm>
              <a:off x="1769954" y="3284487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Rectangle 12"/>
            <p:cNvSpPr/>
            <p:nvPr/>
          </p:nvSpPr>
          <p:spPr>
            <a:xfrm>
              <a:off x="1769954" y="3454633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770446" y="2730390"/>
            <a:ext cx="373649" cy="1643097"/>
            <a:chOff x="2397201" y="1923305"/>
            <a:chExt cx="373649" cy="1643097"/>
          </a:xfrm>
        </p:grpSpPr>
        <p:sp>
          <p:nvSpPr>
            <p:cNvPr id="15" name="Rectangle 14"/>
            <p:cNvSpPr/>
            <p:nvPr/>
          </p:nvSpPr>
          <p:spPr>
            <a:xfrm>
              <a:off x="2397201" y="1923305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15"/>
            <p:cNvSpPr/>
            <p:nvPr/>
          </p:nvSpPr>
          <p:spPr>
            <a:xfrm>
              <a:off x="2397201" y="2093453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16"/>
            <p:cNvSpPr/>
            <p:nvPr/>
          </p:nvSpPr>
          <p:spPr>
            <a:xfrm>
              <a:off x="2397201" y="2263600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17"/>
            <p:cNvSpPr/>
            <p:nvPr/>
          </p:nvSpPr>
          <p:spPr>
            <a:xfrm>
              <a:off x="2397201" y="2433748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18"/>
            <p:cNvSpPr/>
            <p:nvPr/>
          </p:nvSpPr>
          <p:spPr>
            <a:xfrm>
              <a:off x="2397201" y="2603896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19"/>
            <p:cNvSpPr/>
            <p:nvPr/>
          </p:nvSpPr>
          <p:spPr>
            <a:xfrm>
              <a:off x="2397201" y="2774044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20"/>
            <p:cNvSpPr/>
            <p:nvPr/>
          </p:nvSpPr>
          <p:spPr>
            <a:xfrm>
              <a:off x="2397201" y="2944191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21"/>
            <p:cNvSpPr/>
            <p:nvPr/>
          </p:nvSpPr>
          <p:spPr>
            <a:xfrm>
              <a:off x="2397201" y="3114339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22"/>
            <p:cNvSpPr/>
            <p:nvPr/>
          </p:nvSpPr>
          <p:spPr>
            <a:xfrm>
              <a:off x="2397201" y="3284487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23"/>
            <p:cNvSpPr/>
            <p:nvPr/>
          </p:nvSpPr>
          <p:spPr>
            <a:xfrm>
              <a:off x="2397201" y="3454633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7521302" y="1991250"/>
            <a:ext cx="373649" cy="1643097"/>
            <a:chOff x="3033122" y="1923305"/>
            <a:chExt cx="373649" cy="1643097"/>
          </a:xfrm>
        </p:grpSpPr>
        <p:sp>
          <p:nvSpPr>
            <p:cNvPr id="43" name="Rectangle 25"/>
            <p:cNvSpPr/>
            <p:nvPr/>
          </p:nvSpPr>
          <p:spPr>
            <a:xfrm>
              <a:off x="3033122" y="1923305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26"/>
            <p:cNvSpPr/>
            <p:nvPr/>
          </p:nvSpPr>
          <p:spPr>
            <a:xfrm>
              <a:off x="3033122" y="2093453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27"/>
            <p:cNvSpPr/>
            <p:nvPr/>
          </p:nvSpPr>
          <p:spPr>
            <a:xfrm>
              <a:off x="3033122" y="2263600"/>
              <a:ext cx="373649" cy="11176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28"/>
            <p:cNvSpPr/>
            <p:nvPr/>
          </p:nvSpPr>
          <p:spPr>
            <a:xfrm>
              <a:off x="3033122" y="2433748"/>
              <a:ext cx="373649" cy="11176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29"/>
            <p:cNvSpPr/>
            <p:nvPr/>
          </p:nvSpPr>
          <p:spPr>
            <a:xfrm>
              <a:off x="3033122" y="2603896"/>
              <a:ext cx="373649" cy="11176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30"/>
            <p:cNvSpPr/>
            <p:nvPr/>
          </p:nvSpPr>
          <p:spPr>
            <a:xfrm>
              <a:off x="3033122" y="2774044"/>
              <a:ext cx="373649" cy="11176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31"/>
            <p:cNvSpPr/>
            <p:nvPr/>
          </p:nvSpPr>
          <p:spPr>
            <a:xfrm>
              <a:off x="3033122" y="2944191"/>
              <a:ext cx="373649" cy="11176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32"/>
            <p:cNvSpPr/>
            <p:nvPr/>
          </p:nvSpPr>
          <p:spPr>
            <a:xfrm>
              <a:off x="3033122" y="3114339"/>
              <a:ext cx="373649" cy="11176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33"/>
            <p:cNvSpPr/>
            <p:nvPr/>
          </p:nvSpPr>
          <p:spPr>
            <a:xfrm>
              <a:off x="3033122" y="3284487"/>
              <a:ext cx="373649" cy="11176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34"/>
            <p:cNvSpPr/>
            <p:nvPr/>
          </p:nvSpPr>
          <p:spPr>
            <a:xfrm>
              <a:off x="3033122" y="3454633"/>
              <a:ext cx="373649" cy="11176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8141693" y="2632601"/>
            <a:ext cx="373649" cy="1643097"/>
            <a:chOff x="8141693" y="1923306"/>
            <a:chExt cx="373649" cy="1643097"/>
          </a:xfrm>
        </p:grpSpPr>
        <p:sp>
          <p:nvSpPr>
            <p:cNvPr id="92" name="Rectangle 91"/>
            <p:cNvSpPr/>
            <p:nvPr/>
          </p:nvSpPr>
          <p:spPr>
            <a:xfrm>
              <a:off x="8141693" y="1923306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8141693" y="2093454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141693" y="2263601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141693" y="2433749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8141693" y="2603897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8141693" y="2774045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8141693" y="2944192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8141693" y="3114340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8141693" y="3284488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8141693" y="3454634"/>
              <a:ext cx="373649" cy="1117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8884510" y="1893461"/>
            <a:ext cx="373649" cy="1643097"/>
            <a:chOff x="8768940" y="1923306"/>
            <a:chExt cx="373649" cy="1643097"/>
          </a:xfrm>
        </p:grpSpPr>
        <p:sp>
          <p:nvSpPr>
            <p:cNvPr id="103" name="Rectangle 102"/>
            <p:cNvSpPr/>
            <p:nvPr/>
          </p:nvSpPr>
          <p:spPr>
            <a:xfrm>
              <a:off x="8768940" y="1923306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8768940" y="2093454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8768940" y="2263601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8768940" y="2433749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8768940" y="2603897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8768940" y="2774045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8768940" y="2944192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8768940" y="3114340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8768940" y="3284488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8768940" y="3454634"/>
              <a:ext cx="373649" cy="1117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9555855" y="2574178"/>
            <a:ext cx="373649" cy="1643097"/>
            <a:chOff x="10032105" y="1923303"/>
            <a:chExt cx="373649" cy="1643097"/>
          </a:xfrm>
        </p:grpSpPr>
        <p:sp>
          <p:nvSpPr>
            <p:cNvPr id="125" name="Rectangle 124"/>
            <p:cNvSpPr/>
            <p:nvPr/>
          </p:nvSpPr>
          <p:spPr>
            <a:xfrm>
              <a:off x="10032105" y="1923303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10032105" y="2093451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10032105" y="2263598"/>
              <a:ext cx="373649" cy="1117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0032105" y="2433746"/>
              <a:ext cx="373649" cy="11176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0032105" y="2603894"/>
              <a:ext cx="373649" cy="11176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10032105" y="2774042"/>
              <a:ext cx="373649" cy="11176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10032105" y="2944189"/>
              <a:ext cx="373649" cy="11176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10032105" y="3114337"/>
              <a:ext cx="373649" cy="11176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10032105" y="3284485"/>
              <a:ext cx="373649" cy="11176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10032105" y="3454631"/>
              <a:ext cx="373649" cy="11176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3" name="Text Box 52"/>
          <p:cNvSpPr txBox="1"/>
          <p:nvPr/>
        </p:nvSpPr>
        <p:spPr>
          <a:xfrm>
            <a:off x="5142865" y="4912360"/>
            <a:ext cx="6098540" cy="1028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600" b="1"/>
              <a:t>Result Summary</a:t>
            </a:r>
            <a:endParaRPr lang="en-US" sz="3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 flipH="1" flipV="1">
            <a:off x="3596640" y="0"/>
            <a:ext cx="8595360" cy="6858000"/>
          </a:xfrm>
          <a:custGeom>
            <a:avLst/>
            <a:gdLst>
              <a:gd name="connsiteX0" fmla="*/ 0 w 7362092"/>
              <a:gd name="connsiteY0" fmla="*/ 0 h 6858000"/>
              <a:gd name="connsiteX1" fmla="*/ 3932652 w 7362092"/>
              <a:gd name="connsiteY1" fmla="*/ 0 h 6858000"/>
              <a:gd name="connsiteX2" fmla="*/ 7362092 w 7362092"/>
              <a:gd name="connsiteY2" fmla="*/ 6858000 h 6858000"/>
              <a:gd name="connsiteX3" fmla="*/ 0 w 73620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2092" h="6858000">
                <a:moveTo>
                  <a:pt x="0" y="0"/>
                </a:moveTo>
                <a:lnTo>
                  <a:pt x="3932652" y="0"/>
                </a:lnTo>
                <a:lnTo>
                  <a:pt x="73620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493135" y="479425"/>
            <a:ext cx="5299075" cy="1575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4400" b="1" dirty="0" smtClean="0">
                <a:solidFill>
                  <a:schemeClr val="bg1"/>
                </a:solidFill>
              </a:rPr>
              <a:t>Limitations &amp; Future Scope</a:t>
            </a:r>
            <a:endParaRPr lang="en-US" altLang="en-US" sz="4400" b="1" dirty="0" smtClean="0">
              <a:solidFill>
                <a:schemeClr val="bg1"/>
              </a:solidFill>
            </a:endParaRPr>
          </a:p>
          <a:p>
            <a:endParaRPr lang="en-US" altLang="en-US" sz="4400" b="1" dirty="0" smtClean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5790" y="2054860"/>
            <a:ext cx="10845800" cy="3959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Current Limitations:</a:t>
            </a:r>
            <a:endParaRPr lang="en-US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US" sz="2400" b="1" dirty="0">
                <a:solidFill>
                  <a:schemeClr val="bg1"/>
                </a:solidFill>
              </a:rPr>
              <a:t>​Analyzes only one line at a time. 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r>
              <a:rPr lang="en-US" altLang="en-US" sz="2400" b="1" dirty="0">
                <a:solidFill>
                  <a:schemeClr val="bg1"/>
                </a:solidFill>
              </a:rPr>
              <a:t>​Currently limited to the console (no GUI).  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​Future Enhancements:</a:t>
            </a:r>
            <a:endParaRPr lang="en-US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US" sz="2400" b="1" dirty="0">
                <a:solidFill>
                  <a:schemeClr val="bg1"/>
                </a:solidFill>
              </a:rPr>
              <a:t>Integrating a Java Swing Graphical User Interface.  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r>
              <a:rPr lang="en-US" altLang="en-US" sz="2400" b="1" dirty="0">
                <a:solidFill>
                  <a:schemeClr val="bg1"/>
                </a:solidFill>
              </a:rPr>
              <a:t>​Adding support for File Input instead of just keyboard.  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r>
              <a:rPr lang="en-US" altLang="en-US" sz="2400" b="1" dirty="0">
                <a:solidFill>
                  <a:schemeClr val="bg1"/>
                </a:solidFill>
              </a:rPr>
              <a:t>​Real-time analysis while the user is typing.  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r>
              <a:rPr lang="en-US" altLang="en-US" sz="2400" b="1" dirty="0">
                <a:solidFill>
                  <a:schemeClr val="bg1"/>
                </a:solidFill>
              </a:rPr>
              <a:t>  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  </a:t>
            </a:r>
            <a:endParaRPr lang="en-US" altLang="en-US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Conclusion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570865" y="1746250"/>
            <a:ext cx="9799320" cy="47002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en-US" sz="3200" b="1" dirty="0">
                <a:latin typeface="+mj-lt"/>
              </a:rPr>
              <a:t>​Success:</a:t>
            </a:r>
            <a:endParaRPr lang="en-US" altLang="en-US" sz="3200" b="1" dirty="0">
              <a:latin typeface="+mj-lt"/>
            </a:endParaRPr>
          </a:p>
          <a:p>
            <a:pPr algn="l"/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 The project successfully applies string handling and character processing techniques.  </a:t>
            </a:r>
            <a:endParaRPr lang="en-US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US" sz="3200" b="1" dirty="0">
              <a:latin typeface="+mj-lt"/>
            </a:endParaRPr>
          </a:p>
          <a:p>
            <a:pPr algn="l"/>
            <a:r>
              <a:rPr lang="en-US" altLang="en-US" sz="3200" b="1" dirty="0">
                <a:latin typeface="+mj-lt"/>
              </a:rPr>
              <a:t>​Learning Outcome: </a:t>
            </a:r>
            <a:endParaRPr lang="en-US" altLang="en-US" sz="3200" b="1" dirty="0">
              <a:latin typeface="+mj-lt"/>
            </a:endParaRPr>
          </a:p>
          <a:p>
            <a:pPr algn="l"/>
            <a:r>
              <a:rPr lang="en-US" altLang="en-US" sz="2400" b="1" dirty="0">
                <a:latin typeface="+mj-lt"/>
              </a:rPr>
              <a:t>Strengthened fundamental programming concepts for the team.</a:t>
            </a:r>
            <a:endParaRPr lang="en-US" altLang="en-US" sz="2400" b="1" dirty="0">
              <a:latin typeface="+mj-lt"/>
            </a:endParaRPr>
          </a:p>
          <a:p>
            <a:pPr algn="l"/>
            <a:r>
              <a:rPr lang="en-US" altLang="en-US" sz="2400" b="1" dirty="0">
                <a:latin typeface="+mj-lt"/>
              </a:rPr>
              <a:t>  </a:t>
            </a:r>
            <a:endParaRPr lang="en-US" altLang="en-US" sz="2400" b="1" dirty="0">
              <a:latin typeface="+mj-lt"/>
            </a:endParaRPr>
          </a:p>
          <a:p>
            <a:pPr algn="l"/>
            <a:r>
              <a:rPr lang="en-US" altLang="en-US" sz="3200" b="1" dirty="0">
                <a:latin typeface="+mj-lt"/>
              </a:rPr>
              <a:t>​Foundation: </a:t>
            </a:r>
            <a:endParaRPr lang="en-US" altLang="en-US" sz="3200" b="1" dirty="0">
              <a:latin typeface="+mj-lt"/>
            </a:endParaRPr>
          </a:p>
          <a:p>
            <a:pPr algn="l"/>
            <a:endParaRPr lang="en-US" altLang="en-US" sz="2000" b="1" dirty="0">
              <a:latin typeface="+mj-lt"/>
            </a:endParaRPr>
          </a:p>
          <a:p>
            <a:pPr algn="l"/>
            <a:r>
              <a:rPr lang="en-US" altLang="en-US" sz="2000" b="1" dirty="0">
                <a:latin typeface="+mj-lt"/>
              </a:rPr>
              <a:t>Serves as a strong base for developing advanced Java GUI-based applications.  </a:t>
            </a:r>
            <a:endParaRPr lang="en-US" altLang="en-US" sz="2000" b="1" dirty="0">
              <a:latin typeface="+mj-lt"/>
            </a:endParaRPr>
          </a:p>
          <a:p>
            <a:pPr algn="l"/>
            <a:endParaRPr lang="en-US" altLang="en-US" sz="2000" b="1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75120" y="4114293"/>
            <a:ext cx="4033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 smtClean="0">
                <a:solidFill>
                  <a:schemeClr val="bg1"/>
                </a:solidFill>
              </a:rPr>
              <a:t>THANK YOU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675120" y="4998660"/>
            <a:ext cx="55168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675120" y="51054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046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0063BE"/>
      </a:accent1>
      <a:accent2>
        <a:srgbClr val="0178D9"/>
      </a:accent2>
      <a:accent3>
        <a:srgbClr val="3688F7"/>
      </a:accent3>
      <a:accent4>
        <a:srgbClr val="47A1FE"/>
      </a:accent4>
      <a:accent5>
        <a:srgbClr val="6EB8FF"/>
      </a:accent5>
      <a:accent6>
        <a:srgbClr val="9FD2FF"/>
      </a:accent6>
      <a:hlink>
        <a:srgbClr val="F59E00"/>
      </a:hlink>
      <a:folHlink>
        <a:srgbClr val="B2B2B2"/>
      </a:folHlink>
    </a:clrScheme>
    <a:fontScheme name="微软雅黑">
      <a:majorFont>
        <a:latin typeface="微软雅黑"/>
        <a:ea typeface="Microsoft YaHei UI"/>
        <a:cs typeface=""/>
      </a:majorFont>
      <a:minorFont>
        <a:latin typeface="微软雅黑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2462</Words>
  <Application>WPS Presentation</Application>
  <PresentationFormat>宽屏</PresentationFormat>
  <Paragraphs>125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Agency FB</vt:lpstr>
      <vt:lpstr>Times New Roman</vt:lpstr>
      <vt:lpstr>Raleway</vt:lpstr>
      <vt:lpstr>Segoe Print</vt:lpstr>
      <vt:lpstr>FontAwesome</vt:lpstr>
      <vt:lpstr>Microsoft YaHei</vt:lpstr>
      <vt:lpstr>Arial Unicode MS</vt:lpstr>
      <vt:lpstr>Calibri</vt:lpstr>
      <vt:lpstr>Signika Negative</vt:lpstr>
      <vt:lpstr>Roboto</vt:lpstr>
      <vt:lpstr>Microsoft YaHei UI</vt:lpstr>
      <vt:lpstr>Office 主题</vt:lpstr>
      <vt:lpstr>PowerPoint 演示文稿</vt:lpstr>
      <vt:lpstr>PowerPoint 演示文稿</vt:lpstr>
      <vt:lpstr>PowerPoint 演示文稿</vt:lpstr>
      <vt:lpstr>​Key Objectives </vt:lpstr>
      <vt:lpstr>System Design &amp; Tools </vt:lpstr>
      <vt:lpstr>PowerPoint 演示文稿</vt:lpstr>
      <vt:lpstr>Pricelist Table</vt:lpstr>
      <vt:lpstr>PowerPoint 演示文稿</vt:lpstr>
      <vt:lpstr>Arrows Diagram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Khan Minal</cp:lastModifiedBy>
  <cp:revision>35</cp:revision>
  <dcterms:created xsi:type="dcterms:W3CDTF">2015-12-24T07:33:00Z</dcterms:created>
  <dcterms:modified xsi:type="dcterms:W3CDTF">2026-01-04T12:45:07Z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A062BA7C3A3543C7B05127FEE15C6341_13</vt:lpwstr>
  </property>
</Properties>
</file>